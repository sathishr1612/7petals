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1" roundtripDataSignature="AMtx7mgYFm1YLgorgLkNNH/WobLXIFS8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1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7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77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7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7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77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8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78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8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9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9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0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0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1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81"/>
          <p:cNvSpPr txBox="1"/>
          <p:nvPr>
            <p:ph idx="2" type="body"/>
          </p:nvPr>
        </p:nvSpPr>
        <p:spPr>
          <a:xfrm>
            <a:off x="4663440" y="1845735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81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1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2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2"/>
          <p:cNvSpPr txBox="1"/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2"/>
          <p:cNvSpPr txBox="1"/>
          <p:nvPr>
            <p:ph idx="1" type="body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82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2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8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3"/>
          <p:cNvSpPr txBox="1"/>
          <p:nvPr>
            <p:ph idx="1" type="body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83"/>
          <p:cNvSpPr txBox="1"/>
          <p:nvPr>
            <p:ph idx="2" type="body"/>
          </p:nvPr>
        </p:nvSpPr>
        <p:spPr>
          <a:xfrm>
            <a:off x="82296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4" name="Google Shape;64;p83"/>
          <p:cNvSpPr txBox="1"/>
          <p:nvPr>
            <p:ph idx="3" type="body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83"/>
          <p:cNvSpPr txBox="1"/>
          <p:nvPr>
            <p:ph idx="4" type="body"/>
          </p:nvPr>
        </p:nvSpPr>
        <p:spPr>
          <a:xfrm>
            <a:off x="466344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6" name="Google Shape;66;p83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3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4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4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4"/>
          <p:cNvSpPr txBox="1"/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4"/>
          <p:cNvSpPr txBox="1"/>
          <p:nvPr>
            <p:ph idx="1" type="body"/>
          </p:nvPr>
        </p:nvSpPr>
        <p:spPr>
          <a:xfrm>
            <a:off x="3600450" y="731520"/>
            <a:ext cx="486918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84"/>
          <p:cNvSpPr txBox="1"/>
          <p:nvPr>
            <p:ph idx="2" type="body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84"/>
          <p:cNvSpPr txBox="1"/>
          <p:nvPr>
            <p:ph idx="10" type="dt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4"/>
          <p:cNvSpPr txBox="1"/>
          <p:nvPr>
            <p:ph idx="11" type="ftr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5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5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5"/>
          <p:cNvSpPr txBox="1"/>
          <p:nvPr>
            <p:ph type="title"/>
          </p:nvPr>
        </p:nvSpPr>
        <p:spPr>
          <a:xfrm>
            <a:off x="822960" y="5074920"/>
            <a:ext cx="758523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5"/>
          <p:cNvSpPr/>
          <p:nvPr>
            <p:ph idx="2" type="pic"/>
          </p:nvPr>
        </p:nvSpPr>
        <p:spPr>
          <a:xfrm>
            <a:off x="12" y="0"/>
            <a:ext cx="9143989" cy="4915076"/>
          </a:xfrm>
          <a:prstGeom prst="rect">
            <a:avLst/>
          </a:prstGeom>
          <a:solidFill>
            <a:srgbClr val="D7D0C0"/>
          </a:solidFill>
          <a:ln>
            <a:noFill/>
          </a:ln>
        </p:spPr>
      </p:sp>
      <p:sp>
        <p:nvSpPr>
          <p:cNvPr id="83" name="Google Shape;83;p85"/>
          <p:cNvSpPr txBox="1"/>
          <p:nvPr>
            <p:ph idx="1" type="body"/>
          </p:nvPr>
        </p:nvSpPr>
        <p:spPr>
          <a:xfrm>
            <a:off x="822960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85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5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86"/>
          <p:cNvSpPr txBox="1"/>
          <p:nvPr>
            <p:ph idx="1" type="body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8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7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7"/>
          <p:cNvSpPr txBox="1"/>
          <p:nvPr>
            <p:ph type="title"/>
          </p:nvPr>
        </p:nvSpPr>
        <p:spPr>
          <a:xfrm rot="5400000">
            <a:off x="4649564" y="2306414"/>
            <a:ext cx="575989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7"/>
          <p:cNvSpPr txBox="1"/>
          <p:nvPr>
            <p:ph idx="1" type="body"/>
          </p:nvPr>
        </p:nvSpPr>
        <p:spPr>
          <a:xfrm rot="5400000">
            <a:off x="649064" y="391889"/>
            <a:ext cx="575989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8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8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76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7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76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7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7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76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jpg"/><Relationship Id="rId10" Type="http://schemas.openxmlformats.org/officeDocument/2006/relationships/image" Target="../media/image9.jpg"/><Relationship Id="rId13" Type="http://schemas.openxmlformats.org/officeDocument/2006/relationships/image" Target="../media/image12.jp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5" Type="http://schemas.openxmlformats.org/officeDocument/2006/relationships/image" Target="../media/image14.jpg"/><Relationship Id="rId14" Type="http://schemas.openxmlformats.org/officeDocument/2006/relationships/image" Target="../media/image13.jpg"/><Relationship Id="rId17" Type="http://schemas.openxmlformats.org/officeDocument/2006/relationships/image" Target="../media/image16.jpg"/><Relationship Id="rId16" Type="http://schemas.openxmlformats.org/officeDocument/2006/relationships/image" Target="../media/image15.jp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6" Type="http://schemas.openxmlformats.org/officeDocument/2006/relationships/image" Target="../media/image5.jpg"/><Relationship Id="rId18" Type="http://schemas.openxmlformats.org/officeDocument/2006/relationships/image" Target="../media/image17.pn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jpg"/><Relationship Id="rId4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5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6.png"/><Relationship Id="rId4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7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8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Relationship Id="rId4" Type="http://schemas.openxmlformats.org/officeDocument/2006/relationships/image" Target="../media/image9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9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0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2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4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5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6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7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8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9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0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3.jpg"/><Relationship Id="rId4" Type="http://schemas.openxmlformats.org/officeDocument/2006/relationships/image" Target="../media/image82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4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5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7.jpg"/><Relationship Id="rId4" Type="http://schemas.openxmlformats.org/officeDocument/2006/relationships/image" Target="../media/image88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9.jpg"/><Relationship Id="rId4" Type="http://schemas.openxmlformats.org/officeDocument/2006/relationships/image" Target="../media/image90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3.jpg"/><Relationship Id="rId4" Type="http://schemas.openxmlformats.org/officeDocument/2006/relationships/image" Target="../media/image9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2.jpg"/><Relationship Id="rId4" Type="http://schemas.openxmlformats.org/officeDocument/2006/relationships/image" Target="../media/image94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5.jpg"/><Relationship Id="rId4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7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6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762000" y="304800"/>
            <a:ext cx="8756904" cy="20483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BB500"/>
              </a:buClr>
              <a:buSzPts val="4400"/>
              <a:buFont typeface="Lucida Sans"/>
              <a:buNone/>
            </a:pPr>
            <a:r>
              <a:rPr b="1" lang="en-US" sz="4400">
                <a:solidFill>
                  <a:srgbClr val="7BB500"/>
                </a:solidFill>
                <a:latin typeface="Lucida Sans"/>
                <a:ea typeface="Lucida Sans"/>
                <a:cs typeface="Lucida Sans"/>
                <a:sym typeface="Lucida Sans"/>
              </a:rPr>
              <a:t>7 PETALS HORTICULTURE</a:t>
            </a:r>
            <a:br>
              <a:rPr b="1" lang="en-US" sz="4400">
                <a:solidFill>
                  <a:srgbClr val="7BB500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b="1" lang="en-US" sz="4400">
                <a:solidFill>
                  <a:srgbClr val="7BB500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(INDIA) PVT. LTD.</a:t>
            </a:r>
            <a:br>
              <a:rPr lang="en-US" sz="4400">
                <a:solidFill>
                  <a:srgbClr val="7BB500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 sz="4400">
              <a:solidFill>
                <a:srgbClr val="7BB5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533400" y="4038600"/>
            <a:ext cx="815340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bc\Desktop\IMG-20140928-WA0008.jpg"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2133600"/>
            <a:ext cx="32766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914400" y="2209800"/>
            <a:ext cx="65532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>
                <a:solidFill>
                  <a:srgbClr val="4689A3"/>
                </a:solidFill>
              </a:rPr>
              <a:t>ESTABLISHED ON 25</a:t>
            </a:r>
            <a:r>
              <a:rPr baseline="30000" lang="en-US" sz="2400">
                <a:solidFill>
                  <a:srgbClr val="4689A3"/>
                </a:solidFill>
              </a:rPr>
              <a:t>TH</a:t>
            </a:r>
            <a:r>
              <a:rPr lang="en-US" sz="2400">
                <a:solidFill>
                  <a:srgbClr val="4689A3"/>
                </a:solidFill>
              </a:rPr>
              <a:t> AUGUST 2014</a:t>
            </a:r>
            <a:endParaRPr sz="2400">
              <a:solidFill>
                <a:srgbClr val="4689A3"/>
              </a:solidFill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4689A3"/>
              </a:solidFill>
            </a:endParaRPr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>
                <a:solidFill>
                  <a:srgbClr val="4689A3"/>
                </a:solidFill>
              </a:rPr>
              <a:t>OFFICE  –  VIKHROLI EAST, MUMBAI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4689A3"/>
              </a:solidFill>
            </a:endParaRPr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>
                <a:solidFill>
                  <a:srgbClr val="4689A3"/>
                </a:solidFill>
              </a:rPr>
              <a:t>NURSERY –  KARJAT</a:t>
            </a:r>
            <a:endParaRPr sz="2400">
              <a:solidFill>
                <a:srgbClr val="4689A3"/>
              </a:solidFill>
            </a:endParaRPr>
          </a:p>
        </p:txBody>
      </p:sp>
      <p:pic>
        <p:nvPicPr>
          <p:cNvPr descr="C:\Users\Abc\Desktop\IMG-20140928-WA0008.jpg"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533400"/>
            <a:ext cx="1447800" cy="1346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914400" y="198120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/>
          </a:bodyPr>
          <a:lstStyle/>
          <a:p>
            <a:pPr indent="-14097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b="1" lang="en-US" sz="2400">
                <a:solidFill>
                  <a:srgbClr val="4689A3"/>
                </a:solidFill>
                <a:latin typeface="Calibri"/>
                <a:ea typeface="Calibri"/>
                <a:cs typeface="Calibri"/>
                <a:sym typeface="Calibri"/>
              </a:rPr>
              <a:t>The Directors are qualified Horticulturists with education in the field of Agriculture &amp; Horticulture possessing knowledge and experience in the field for more than 25 years.</a:t>
            </a:r>
            <a:endParaRPr/>
          </a:p>
          <a:p>
            <a:pPr indent="-14097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b="1" lang="en-US" sz="2400">
                <a:solidFill>
                  <a:srgbClr val="4689A3"/>
                </a:solidFill>
                <a:latin typeface="Calibri"/>
                <a:ea typeface="Calibri"/>
                <a:cs typeface="Calibri"/>
                <a:sym typeface="Calibri"/>
              </a:rPr>
              <a:t>They have executed all types of jobs and concepts in the field of Landscaping and retain profound knowledge of plants and gardens. </a:t>
            </a:r>
            <a:endParaRPr/>
          </a:p>
          <a:p>
            <a:pPr indent="-14097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b="1" lang="en-US" sz="2400">
                <a:solidFill>
                  <a:srgbClr val="4689A3"/>
                </a:solidFill>
                <a:latin typeface="Calibri"/>
                <a:ea typeface="Calibri"/>
                <a:cs typeface="Calibri"/>
                <a:sym typeface="Calibri"/>
              </a:rPr>
              <a:t>They Have experience of establishment &amp; managing a commercial plant Nursery and developing Farms.</a:t>
            </a:r>
            <a:endParaRPr/>
          </a:p>
          <a:p>
            <a:pPr indent="-14097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b="1" lang="en-US" sz="2400">
                <a:solidFill>
                  <a:srgbClr val="4689A3"/>
                </a:solidFill>
                <a:latin typeface="Calibri"/>
                <a:ea typeface="Calibri"/>
                <a:cs typeface="Calibri"/>
                <a:sym typeface="Calibri"/>
              </a:rPr>
              <a:t> We have diversified our services from last 5 years and are executing complete Landscape project which includes all aspects of a project viz. Civil works, Softscape works, Fabrication, Lighting, Painting, Irrigation, Play Grounds etc.</a:t>
            </a:r>
            <a:endParaRPr b="1" sz="2400">
              <a:solidFill>
                <a:srgbClr val="4689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bc\Desktop\IMG-20140928-WA0008.jpg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533400"/>
            <a:ext cx="1447800" cy="1346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2057400" y="838200"/>
            <a:ext cx="82296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BB500"/>
              </a:buClr>
              <a:buSzPts val="4800"/>
              <a:buFont typeface="Calibri"/>
              <a:buNone/>
            </a:pPr>
            <a:r>
              <a:rPr lang="en-US">
                <a:solidFill>
                  <a:srgbClr val="7BB500"/>
                </a:solidFill>
              </a:rPr>
              <a:t>SERVICES OFFERED</a:t>
            </a:r>
            <a:endParaRPr>
              <a:solidFill>
                <a:srgbClr val="7BB500"/>
              </a:solidFill>
            </a:endParaRPr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914400" y="1981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>
                <a:solidFill>
                  <a:srgbClr val="4689A3"/>
                </a:solidFill>
              </a:rPr>
              <a:t>Landscaping- Turn Key- Hardscape &amp; Softscape</a:t>
            </a:r>
            <a:endParaRPr>
              <a:solidFill>
                <a:srgbClr val="4689A3"/>
              </a:solidFill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>
                <a:solidFill>
                  <a:srgbClr val="4689A3"/>
                </a:solidFill>
              </a:rPr>
              <a:t>Green Wall / Vertical Gardens</a:t>
            </a:r>
            <a:endParaRPr>
              <a:solidFill>
                <a:srgbClr val="4689A3"/>
              </a:solidFill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>
                <a:solidFill>
                  <a:srgbClr val="4689A3"/>
                </a:solidFill>
              </a:rPr>
              <a:t>Tree Planting &amp; Tree Transplanting</a:t>
            </a:r>
            <a:endParaRPr>
              <a:solidFill>
                <a:srgbClr val="4689A3"/>
              </a:solidFill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>
                <a:solidFill>
                  <a:srgbClr val="4689A3"/>
                </a:solidFill>
              </a:rPr>
              <a:t>Roof / Terrace Gardens</a:t>
            </a:r>
            <a:endParaRPr>
              <a:solidFill>
                <a:srgbClr val="4689A3"/>
              </a:solidFill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>
                <a:solidFill>
                  <a:srgbClr val="4689A3"/>
                </a:solidFill>
              </a:rPr>
              <a:t>Garden Maintenance</a:t>
            </a:r>
            <a:endParaRPr>
              <a:solidFill>
                <a:srgbClr val="4689A3"/>
              </a:solidFill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>
                <a:solidFill>
                  <a:srgbClr val="4689A3"/>
                </a:solidFill>
              </a:rPr>
              <a:t>Irrigation Systems</a:t>
            </a:r>
            <a:endParaRPr>
              <a:solidFill>
                <a:srgbClr val="4689A3"/>
              </a:solidFill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>
                <a:solidFill>
                  <a:srgbClr val="4689A3"/>
                </a:solidFill>
              </a:rPr>
              <a:t>Supply of plants &amp; garden materials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>
                <a:solidFill>
                  <a:srgbClr val="4689A3"/>
                </a:solidFill>
              </a:rPr>
              <a:t>Green House/ Shade House Construction</a:t>
            </a:r>
            <a:endParaRPr>
              <a:solidFill>
                <a:srgbClr val="4689A3"/>
              </a:solidFill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>
                <a:solidFill>
                  <a:srgbClr val="4689A3"/>
                </a:solidFill>
              </a:rPr>
              <a:t>Horticultural Consultancy</a:t>
            </a:r>
            <a:endParaRPr>
              <a:solidFill>
                <a:srgbClr val="4689A3"/>
              </a:solidFill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>
              <a:solidFill>
                <a:srgbClr val="4689A3"/>
              </a:solidFill>
            </a:endParaRPr>
          </a:p>
        </p:txBody>
      </p:sp>
      <p:pic>
        <p:nvPicPr>
          <p:cNvPr descr="C:\Users\Abc\Desktop\IMG-20140928-WA0008.jpg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533400"/>
            <a:ext cx="1447800" cy="1346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3810000" y="304800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BB500"/>
              </a:buClr>
              <a:buSzPts val="4800"/>
              <a:buFont typeface="Calibri"/>
              <a:buNone/>
            </a:pPr>
            <a:r>
              <a:rPr lang="en-US">
                <a:solidFill>
                  <a:srgbClr val="7BB500"/>
                </a:solidFill>
              </a:rPr>
              <a:t>STAFF</a:t>
            </a:r>
            <a:endParaRPr>
              <a:solidFill>
                <a:srgbClr val="7BB500"/>
              </a:solidFill>
            </a:endParaRPr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DIRECTORS- 7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GENERAL MANAGER- 2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BILLING ENGINEERS-3</a:t>
            </a:r>
            <a:endParaRPr>
              <a:solidFill>
                <a:srgbClr val="4689A3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CIVIL ENGINEER- 4</a:t>
            </a:r>
            <a:endParaRPr>
              <a:solidFill>
                <a:srgbClr val="4689A3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HORTICULTURIST- 7</a:t>
            </a:r>
            <a:endParaRPr>
              <a:solidFill>
                <a:srgbClr val="4689A3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IRRIGATION ENGINEER-1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SUPERVISORS- 10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OFFICE STAFF- 4</a:t>
            </a:r>
            <a:endParaRPr>
              <a:solidFill>
                <a:srgbClr val="4689A3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GARDENERS &amp; MASONS- 100</a:t>
            </a:r>
            <a:endParaRPr>
              <a:solidFill>
                <a:srgbClr val="4689A3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>
                <a:solidFill>
                  <a:srgbClr val="4689A3"/>
                </a:solidFill>
              </a:rPr>
              <a:t>MASONS &amp; HELPERS- AS REQUIRED</a:t>
            </a:r>
            <a:endParaRPr>
              <a:solidFill>
                <a:srgbClr val="4689A3"/>
              </a:solidFill>
            </a:endParaRPr>
          </a:p>
        </p:txBody>
      </p:sp>
      <p:pic>
        <p:nvPicPr>
          <p:cNvPr descr="C:\Users\Abc\Desktop\IMG-20140928-WA0008.jpg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533400"/>
            <a:ext cx="1447800" cy="1346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BB500"/>
              </a:buClr>
              <a:buSzPts val="4800"/>
              <a:buFont typeface="Calibri"/>
              <a:buNone/>
            </a:pPr>
            <a:r>
              <a:rPr b="1" lang="en-US">
                <a:solidFill>
                  <a:srgbClr val="7BB500"/>
                </a:solidFill>
              </a:rPr>
              <a:t>OUR CLIENTS</a:t>
            </a:r>
            <a:endParaRPr b="1">
              <a:solidFill>
                <a:srgbClr val="7BB500"/>
              </a:solidFill>
            </a:endParaRPr>
          </a:p>
        </p:txBody>
      </p:sp>
      <p:pic>
        <p:nvPicPr>
          <p:cNvPr descr="398px-Godrej_Logo" id="140" name="Google Shape;140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28800"/>
            <a:ext cx="16002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rf ketal"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1828800"/>
            <a:ext cx="13716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jmera" id="142" name="Google Shape;14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5400" y="2971800"/>
            <a:ext cx="12192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dmin\AppData\Local\Microsoft\Windows\INetCache\Content.Word\nift-logo.jpg" id="143" name="Google Shape;14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24200" y="2895600"/>
            <a:ext cx="9906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sw" id="144" name="Google Shape;14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24200" y="1752600"/>
            <a:ext cx="12954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iance" id="145" name="Google Shape;14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81600" y="18288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eth" id="146" name="Google Shape;14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2895600"/>
            <a:ext cx="1143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cpa" id="147" name="Google Shape;14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24200" y="4191000"/>
            <a:ext cx="1143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ramal" id="148" name="Google Shape;14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77000" y="2819400"/>
            <a:ext cx="17526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uid control" id="149" name="Google Shape;14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4400" y="3962400"/>
            <a:ext cx="14478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oorji_&amp;_Pallonji_Group" id="150" name="Google Shape;15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29200" y="4343400"/>
            <a:ext cx="1524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wal" id="151" name="Google Shape;15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239000" y="4876800"/>
            <a:ext cx="788068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dmin\AppData\Local\Microsoft\Windows\INetCache\Content.Word\Adhiraj.jpg" id="152" name="Google Shape;15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181600" y="5257800"/>
            <a:ext cx="1371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dmin\AppData\Local\Microsoft\Windows\INetCache\Content.Word\Indospace.jpg" id="153" name="Google Shape;153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971800" y="5105400"/>
            <a:ext cx="14478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me | Hindustan Unilever Limited website" id="154" name="Google Shape;154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62000" y="4876800"/>
            <a:ext cx="1828799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stomjee - Raivat Properties" id="155" name="Google Shape;155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781800" y="3733800"/>
            <a:ext cx="1600200" cy="999744"/>
          </a:xfrm>
          <a:prstGeom prst="rect">
            <a:avLst/>
          </a:prstGeom>
          <a:noFill/>
          <a:ln>
            <a:noFill/>
          </a:ln>
        </p:spPr>
      </p:pic>
      <p:sp>
        <p:nvSpPr>
          <p:cNvPr descr="Mahindra Lifespaces | Happinest Tathawade" id="156" name="Google Shape;156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ahindra Lifespaces | Happinest Tathawade" id="157" name="Google Shape;157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ahindra Lifespaces to buy land parcels with Rs 3k-crore sales value" id="158" name="Google Shape;158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ahindra Lifespaces to buy land parcels with Rs 3k-crore sales value" id="159" name="Google Shape;159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ahindra Lifespaces logo in transparent PNG format" id="160" name="Google Shape;160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Articles" id="161" name="Google Shape;161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705600" y="2362200"/>
            <a:ext cx="1504950" cy="574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IMG-20140928-WA0008.jpg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457200"/>
            <a:ext cx="3581400" cy="3331535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  <p:sp>
        <p:nvSpPr>
          <p:cNvPr id="168" name="Google Shape;168;p7"/>
          <p:cNvSpPr txBox="1"/>
          <p:nvPr/>
        </p:nvSpPr>
        <p:spPr>
          <a:xfrm>
            <a:off x="2971800" y="3429000"/>
            <a:ext cx="3429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PROJECTS</a:t>
            </a:r>
            <a:endParaRPr sz="5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IMG-20140928-WA0008.jpg"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  <p:sp>
        <p:nvSpPr>
          <p:cNvPr id="174" name="Google Shape;174;p8"/>
          <p:cNvSpPr txBox="1"/>
          <p:nvPr>
            <p:ph type="title"/>
          </p:nvPr>
        </p:nvSpPr>
        <p:spPr>
          <a:xfrm>
            <a:off x="822960" y="286605"/>
            <a:ext cx="7543800" cy="8563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Rustomjee Crown</a:t>
            </a:r>
            <a:endParaRPr b="1"/>
          </a:p>
        </p:txBody>
      </p:sp>
      <p:pic>
        <p:nvPicPr>
          <p:cNvPr id="175" name="Google Shape;1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975925"/>
            <a:ext cx="4191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300" y="2074150"/>
            <a:ext cx="41656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IMG-20140928-WA0008.jp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  <p:sp>
        <p:nvSpPr>
          <p:cNvPr id="182" name="Google Shape;182;p9"/>
          <p:cNvSpPr txBox="1"/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b="1" lang="en-US"/>
              <a:t>Rustomjee Crown</a:t>
            </a:r>
            <a:endParaRPr/>
          </a:p>
        </p:txBody>
      </p:sp>
      <p:pic>
        <p:nvPicPr>
          <p:cNvPr id="183" name="Google Shape;183;p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600200"/>
            <a:ext cx="5363633" cy="425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0" y="1600200"/>
            <a:ext cx="29718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IMG-20140928-WA0008.jpg"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  <p:sp>
        <p:nvSpPr>
          <p:cNvPr id="190" name="Google Shape;190;p10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Rustomjee Crown</a:t>
            </a:r>
            <a:endParaRPr/>
          </a:p>
        </p:txBody>
      </p:sp>
      <p:pic>
        <p:nvPicPr>
          <p:cNvPr id="191" name="Google Shape;191;p1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828800"/>
            <a:ext cx="2618316" cy="196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4114800"/>
            <a:ext cx="26670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1828800"/>
            <a:ext cx="29718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4114800"/>
            <a:ext cx="2743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8000" y="2743200"/>
            <a:ext cx="29464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1" lang="en-US" sz="3600"/>
              <a:t>RUSTOMJEE PARAMOUNT, KHAR</a:t>
            </a:r>
            <a:endParaRPr b="1" sz="3600"/>
          </a:p>
        </p:txBody>
      </p:sp>
      <p:pic>
        <p:nvPicPr>
          <p:cNvPr id="201" name="Google Shape;201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066800"/>
            <a:ext cx="76962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1" lang="en-US" sz="3600"/>
              <a:t>RUSTOMJEE PARAMOUNT, KHAR</a:t>
            </a:r>
            <a:endParaRPr b="1" sz="3600"/>
          </a:p>
        </p:txBody>
      </p:sp>
      <p:pic>
        <p:nvPicPr>
          <p:cNvPr descr="C:\Users\Amit sir\OneDrive\Pictures\Paramount\New folder\IMG_0909.JPG" id="207" name="Google Shape;207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219201"/>
            <a:ext cx="7696200" cy="464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1" lang="en-US" sz="3600"/>
              <a:t>RUSTOMJEE PARAMOUNT, KHAR</a:t>
            </a:r>
            <a:endParaRPr b="1" sz="3600"/>
          </a:p>
        </p:txBody>
      </p:sp>
      <p:pic>
        <p:nvPicPr>
          <p:cNvPr descr="C:\Users\Amit sir\OneDrive\Pictures\Paramount\New folder\IMG_0912.JPG" id="213" name="Google Shape;213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143001"/>
            <a:ext cx="7467600" cy="47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1" lang="en-US" sz="3600"/>
              <a:t>RUSTOMJEE PARAMOUNT, KHAR</a:t>
            </a:r>
            <a:endParaRPr b="1" sz="3600"/>
          </a:p>
        </p:txBody>
      </p:sp>
      <p:pic>
        <p:nvPicPr>
          <p:cNvPr descr="C:\Users\Amit sir\OneDrive\Pictures\Paramount\New folder\IMG_1143.JPG" id="219" name="Google Shape;219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66800"/>
            <a:ext cx="7467600" cy="518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1" lang="en-US" sz="3600"/>
              <a:t>RUSTOMJEE PARAMOUNT, KHAR</a:t>
            </a:r>
            <a:endParaRPr b="1" sz="3600"/>
          </a:p>
        </p:txBody>
      </p:sp>
      <p:pic>
        <p:nvPicPr>
          <p:cNvPr descr="C:\Users\Amit sir\OneDrive\Pictures\Paramount\New folder\IMG_1153.JPG" id="225" name="Google Shape;225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90500" y="2095500"/>
            <a:ext cx="4724400" cy="3581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mit sir\OneDrive\Pictures\Paramount\New folder\IMG_1138.JPG" id="226" name="Google Shape;2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203700" y="2120900"/>
            <a:ext cx="47752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1" lang="en-US" sz="3600"/>
              <a:t>RUSTOMJEE PARAMOUNT, KHAR</a:t>
            </a:r>
            <a:endParaRPr b="1" sz="3600"/>
          </a:p>
        </p:txBody>
      </p:sp>
      <p:pic>
        <p:nvPicPr>
          <p:cNvPr descr="C:\Users\Amit sir\OneDrive\Pictures\Paramount\New folder\IMG_1144.JPG" id="232" name="Google Shape;232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19200"/>
            <a:ext cx="7467600" cy="495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1" lang="en-US" sz="3600"/>
              <a:t>G CORP TECH PARK, THANE</a:t>
            </a:r>
            <a:endParaRPr b="1" sz="3600"/>
          </a:p>
        </p:txBody>
      </p:sp>
      <p:pic>
        <p:nvPicPr>
          <p:cNvPr id="238" name="Google Shape;238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28800"/>
            <a:ext cx="5366660" cy="40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752600"/>
            <a:ext cx="2281238" cy="170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3886200"/>
            <a:ext cx="2611322" cy="1957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 txBox="1"/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1" lang="en-US" sz="3600"/>
              <a:t>G CORP TECH PARK, THANE</a:t>
            </a:r>
            <a:endParaRPr b="1" sz="3600"/>
          </a:p>
        </p:txBody>
      </p:sp>
      <p:pic>
        <p:nvPicPr>
          <p:cNvPr id="246" name="Google Shape;2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3581400"/>
            <a:ext cx="4495800" cy="2602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1828800"/>
            <a:ext cx="44958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1828800"/>
            <a:ext cx="3017044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9"/>
          <p:cNvPicPr preferRelativeResize="0"/>
          <p:nvPr/>
        </p:nvPicPr>
        <p:blipFill rotWithShape="1">
          <a:blip r:embed="rId3">
            <a:alphaModFix/>
          </a:blip>
          <a:srcRect b="23254" l="9772" r="2790" t="2325"/>
          <a:stretch/>
        </p:blipFill>
        <p:spPr>
          <a:xfrm>
            <a:off x="2057400" y="762000"/>
            <a:ext cx="4772349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bc\Desktop\IMG-20140928-WA0008.jpg" id="254" name="Google Shape;2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62000"/>
            <a:ext cx="8398934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838200"/>
            <a:ext cx="8127999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990600"/>
            <a:ext cx="85344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143000"/>
            <a:ext cx="76200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09600"/>
            <a:ext cx="73914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>
            <p:ph type="title"/>
          </p:nvPr>
        </p:nvSpPr>
        <p:spPr>
          <a:xfrm>
            <a:off x="838200" y="286605"/>
            <a:ext cx="7528560" cy="4753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BEER GARDEN @ GODREJ TREES</a:t>
            </a:r>
            <a:endParaRPr sz="2800"/>
          </a:p>
        </p:txBody>
      </p:sp>
      <p:pic>
        <p:nvPicPr>
          <p:cNvPr id="285" name="Google Shape;285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52600"/>
            <a:ext cx="2971800" cy="2227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114801"/>
            <a:ext cx="2971800" cy="2115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2400" y="2514600"/>
            <a:ext cx="4371265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type="title"/>
          </p:nvPr>
        </p:nvSpPr>
        <p:spPr>
          <a:xfrm>
            <a:off x="822960" y="286605"/>
            <a:ext cx="7543800" cy="399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b="1" lang="en-US" sz="3200"/>
              <a:t>OBEROI ENIGMA, MULUND</a:t>
            </a:r>
            <a:endParaRPr b="1" sz="3200"/>
          </a:p>
        </p:txBody>
      </p:sp>
      <p:pic>
        <p:nvPicPr>
          <p:cNvPr id="293" name="Google Shape;293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19200"/>
            <a:ext cx="5516033" cy="46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1219200"/>
            <a:ext cx="280035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/>
          <p:nvPr>
            <p:ph type="title"/>
          </p:nvPr>
        </p:nvSpPr>
        <p:spPr>
          <a:xfrm>
            <a:off x="822960" y="286605"/>
            <a:ext cx="7543800" cy="4753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 sz="3200"/>
              <a:t>NIRLON, GOREGAON</a:t>
            </a:r>
            <a:endParaRPr sz="3200"/>
          </a:p>
        </p:txBody>
      </p:sp>
      <p:pic>
        <p:nvPicPr>
          <p:cNvPr id="300" name="Google Shape;300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828800"/>
            <a:ext cx="2743200" cy="40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1828800"/>
            <a:ext cx="2590800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7900" y="1752600"/>
            <a:ext cx="270510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/>
          <p:nvPr>
            <p:ph type="title"/>
          </p:nvPr>
        </p:nvSpPr>
        <p:spPr>
          <a:xfrm>
            <a:off x="822960" y="286605"/>
            <a:ext cx="7543800" cy="4753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 sz="3200"/>
              <a:t>GODREJ &amp; BOYCE FACTORY, KHALAPUR</a:t>
            </a:r>
            <a:endParaRPr sz="3200"/>
          </a:p>
        </p:txBody>
      </p:sp>
      <p:pic>
        <p:nvPicPr>
          <p:cNvPr id="308" name="Google Shape;3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828800"/>
            <a:ext cx="3276600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1828800"/>
            <a:ext cx="32766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/>
          <p:nvPr/>
        </p:nvSpPr>
        <p:spPr>
          <a:xfrm>
            <a:off x="1600200" y="2971800"/>
            <a:ext cx="634340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GODREJ –URBAN FARM</a:t>
            </a:r>
            <a:endParaRPr sz="4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descr="C:\Users\Abc\Desktop\IMG-20140928-WA0008.jpg"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60128_113417098.jpg" id="320" name="Google Shape;320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066800"/>
            <a:ext cx="7803444" cy="4389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ramal Vaikunth" id="326" name="Google Shape;326;p3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31"/>
          <p:cNvPicPr preferRelativeResize="0"/>
          <p:nvPr/>
        </p:nvPicPr>
        <p:blipFill rotWithShape="1">
          <a:blip r:embed="rId3">
            <a:alphaModFix/>
          </a:blip>
          <a:srcRect b="75268" l="11841" r="70297" t="12830"/>
          <a:stretch/>
        </p:blipFill>
        <p:spPr>
          <a:xfrm>
            <a:off x="1295400" y="2438400"/>
            <a:ext cx="6858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bc\Desktop\IMG-20140928-WA0008.jpg" id="328" name="Google Shape;32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0925_124746876.jpg" id="333" name="Google Shape;333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143000"/>
            <a:ext cx="7467599" cy="4725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0828_141919176_HDR.jpg" id="338" name="Google Shape;338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1" y="1066800"/>
            <a:ext cx="7467600" cy="4573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0925_124611315_HDR.jpg" id="343" name="Google Shape;343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90600"/>
            <a:ext cx="74676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0925_124648506.jpg" id="348" name="Google Shape;348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762000"/>
            <a:ext cx="8046156" cy="490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Pictures\GARDEN\DSC_0723.jpg" id="353" name="Google Shape;353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90601"/>
            <a:ext cx="7391400" cy="4878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1212_180518503_HDR.jpg" id="358" name="Google Shape;358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5800"/>
            <a:ext cx="8046156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-20160102-WA0007.jpg" id="363" name="Google Shape;363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838200"/>
            <a:ext cx="74676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Pictures\GARDEN\IMG_20151212_164107764.jpg" id="368" name="Google Shape;368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38200"/>
            <a:ext cx="74676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IMG-20140928-WA0008.jpg" id="373" name="Google Shape;37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  <p:pic>
        <p:nvPicPr>
          <p:cNvPr descr="ajmera" id="374" name="Google Shape;37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2209800"/>
            <a:ext cx="25908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533400"/>
            <a:ext cx="7391400" cy="53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914400"/>
            <a:ext cx="70866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14400"/>
            <a:ext cx="72390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IMG-20140928-WA0008.jpg" id="395" name="Google Shape;39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  <p:pic>
        <p:nvPicPr>
          <p:cNvPr descr="ncpa" id="396" name="Google Shape;39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2286000"/>
            <a:ext cx="28956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914400"/>
            <a:ext cx="8229600" cy="492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762000"/>
            <a:ext cx="8365067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IMG-20140928-WA0008.jpg" id="411" name="Google Shape;41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  <p:sp>
        <p:nvSpPr>
          <p:cNvPr id="412" name="Google Shape;412;p47"/>
          <p:cNvSpPr/>
          <p:nvPr/>
        </p:nvSpPr>
        <p:spPr>
          <a:xfrm>
            <a:off x="2802477" y="3244334"/>
            <a:ext cx="37507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Ambedkar Garden Seawoods (NMMC)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81000"/>
            <a:ext cx="7924800" cy="55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85800"/>
            <a:ext cx="815340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609600"/>
            <a:ext cx="83058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 txBox="1"/>
          <p:nvPr/>
        </p:nvSpPr>
        <p:spPr>
          <a:xfrm>
            <a:off x="1524000" y="3200400"/>
            <a:ext cx="6172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KILBILL BUNGALOW </a:t>
            </a:r>
            <a:endParaRPr sz="4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descr="C:\Users\Abc\Desktop\IMG-20140928-WA0008.jpg" id="433" name="Google Shape;43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609600"/>
            <a:ext cx="815340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81000"/>
            <a:ext cx="7924800" cy="5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762000"/>
            <a:ext cx="76962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5"/>
          <p:cNvSpPr/>
          <p:nvPr/>
        </p:nvSpPr>
        <p:spPr>
          <a:xfrm>
            <a:off x="2057400" y="3276600"/>
            <a:ext cx="530626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TERRACE GARDEN </a:t>
            </a:r>
            <a:endParaRPr sz="4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descr="C:\Users\Abc\Desktop\IMG-20140928-WA0008.jpg" id="454" name="Google Shape;45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14400"/>
            <a:ext cx="74676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762000"/>
            <a:ext cx="70866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14400"/>
            <a:ext cx="70866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838200"/>
            <a:ext cx="70866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0"/>
          <p:cNvSpPr txBox="1"/>
          <p:nvPr/>
        </p:nvSpPr>
        <p:spPr>
          <a:xfrm>
            <a:off x="1905000" y="3124200"/>
            <a:ext cx="5867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VERTICAL GARDEN </a:t>
            </a:r>
            <a:endParaRPr sz="4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descr="C:\Users\Abc\Desktop\IMG-20140928-WA0008.jpg" id="480" name="Google Shape;48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41226_113936960_HDR.jpg" id="485" name="Google Shape;485;p6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762000"/>
            <a:ext cx="74676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1125_104445160_HDR.jpg" id="490" name="Google Shape;490;p6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685800"/>
            <a:ext cx="4038599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bc\Pictures\GARDEN\IMG-20170408-WA0000.jpg" id="491" name="Google Shape;491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685800"/>
            <a:ext cx="4062412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0829_105244761.jpg" id="496" name="Google Shape;496;p6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66800"/>
            <a:ext cx="74676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0420_181225181_HDR.jpg" id="501" name="Google Shape;501;p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143000"/>
            <a:ext cx="73914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0421_131808333.jpg" id="506" name="Google Shape;506;p6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990600"/>
            <a:ext cx="75438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6"/>
          <p:cNvSpPr txBox="1"/>
          <p:nvPr>
            <p:ph type="title"/>
          </p:nvPr>
        </p:nvSpPr>
        <p:spPr>
          <a:xfrm>
            <a:off x="914400" y="2819400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TREE TRANSPLANTING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descr="C:\Users\Abc\Desktop\IMG-20140928-WA0008.jpg" id="512" name="Google Shape;51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40927_112345749_HDR.jpg" id="517" name="Google Shape;517;p6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447800"/>
            <a:ext cx="3200400" cy="4497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bc\Desktop\New folder (2)\IMG_20140927_162736042.jpg" id="518" name="Google Shape;518;p67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1447800"/>
            <a:ext cx="31242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6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143000"/>
            <a:ext cx="31242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68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1143000"/>
            <a:ext cx="3295650" cy="4692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41010_102047787.jpg" id="529" name="Google Shape;529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95400"/>
            <a:ext cx="30480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bc\Desktop\New folder (2)\IMG_20140930_130346180.jpg" id="530" name="Google Shape;530;p69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600" y="1295400"/>
            <a:ext cx="2808358" cy="438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40930_130757911_HDR.jpg" id="535" name="Google Shape;535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19200"/>
            <a:ext cx="28956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bc\Desktop\New folder (2)\IMG_20151209_160748686.jpg" id="536" name="Google Shape;536;p70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1295400"/>
            <a:ext cx="2859126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400300" y="2324100"/>
            <a:ext cx="38862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71"/>
          <p:cNvSpPr/>
          <p:nvPr/>
        </p:nvSpPr>
        <p:spPr>
          <a:xfrm>
            <a:off x="3048000" y="685800"/>
            <a:ext cx="27432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IRRIGATION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bc\Desktop\IMG-20140928-WA0008.jpg" id="543" name="Google Shape;543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810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2"/>
          <p:cNvSpPr txBox="1"/>
          <p:nvPr>
            <p:ph type="title"/>
          </p:nvPr>
        </p:nvSpPr>
        <p:spPr>
          <a:xfrm>
            <a:off x="2971800" y="2819400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cida San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NURSERY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descr="C:\Users\Abc\Desktop\IMG-20140928-WA0008.jpg" id="549" name="Google Shape;54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1310640" cy="12192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961"/>
              </a:srgbClr>
            </a:outerShdw>
          </a:effec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60126_175328869_HDR.jpg" id="554" name="Google Shape;554;p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066800"/>
            <a:ext cx="73914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bc\Desktop\New folder (2)\IMG_20150415_165806287.jpg" id="559" name="Google Shape;559;p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66800"/>
            <a:ext cx="73914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5"/>
          <p:cNvSpPr txBox="1"/>
          <p:nvPr>
            <p:ph type="ctrTitle"/>
          </p:nvPr>
        </p:nvSpPr>
        <p:spPr>
          <a:xfrm>
            <a:off x="1905000" y="2133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8000"/>
              <a:buFont typeface="Calibri"/>
              <a:buNone/>
            </a:pPr>
            <a:r>
              <a:rPr b="1" lang="en-US">
                <a:solidFill>
                  <a:srgbClr val="92D050"/>
                </a:solidFill>
              </a:rPr>
              <a:t>THANK YOU</a:t>
            </a:r>
            <a:endParaRPr b="1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2016-02-05T02:32:07Z</dcterms:created>
  <dc:creator>Abc</dc:creator>
</cp:coreProperties>
</file>